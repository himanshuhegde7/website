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3" r:id="rId3"/>
    <p:sldId id="262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manshu Hegde" initials="HH" lastIdx="2" clrIdx="0">
    <p:extLst>
      <p:ext uri="{19B8F6BF-5375-455C-9EA6-DF929625EA0E}">
        <p15:presenceInfo xmlns:p15="http://schemas.microsoft.com/office/powerpoint/2012/main" userId="f37b7cacc981a5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27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1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0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1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3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2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2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7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0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73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60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48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30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60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14AF920-8902-4695-AEDD-550FD3A05382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D5C4DC9-FB3D-4FFE-B364-88765031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65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linkedin.com/in/himanshuhegde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hcr7.github.io/website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ww.esi-group.com/products/virtual-realit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hcr7/CalculatorAp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hhcr7/TowerOfHano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hcr7/ControlSystemDesign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hcr7/ControlSystemDesign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E6D7-CF5D-4B1F-A522-870A93474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363" y="832916"/>
            <a:ext cx="9349273" cy="128046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74E7E-92FC-4BC6-8ABE-FDD324587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447" y="2561409"/>
            <a:ext cx="6168867" cy="2871109"/>
          </a:xfrm>
        </p:spPr>
        <p:txBody>
          <a:bodyPr>
            <a:noAutofit/>
          </a:bodyPr>
          <a:lstStyle/>
          <a:p>
            <a:pPr lvl="1" algn="l"/>
            <a:r>
              <a:rPr lang="en-US" sz="2000" dirty="0">
                <a:solidFill>
                  <a:srgbClr val="FFFF0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Work experience: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Quality Assurance Engineer at ESI Group [slide 2]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l"/>
            <a:r>
              <a:rPr lang="en-US" sz="2000" dirty="0">
                <a:solidFill>
                  <a:srgbClr val="FFFF0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Projects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Calculator Windows desktop app using Qt [slide 3]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‘Tower of Hanoi’ problem on C++ [slide 4]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system simulations [slide 5 - 6]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7C988-A3C6-4044-859F-4481F23B2B67}"/>
              </a:ext>
            </a:extLst>
          </p:cNvPr>
          <p:cNvSpPr txBox="1"/>
          <p:nvPr/>
        </p:nvSpPr>
        <p:spPr>
          <a:xfrm>
            <a:off x="9675845" y="6423354"/>
            <a:ext cx="251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HIMANSHU HEGDE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826C7-D821-48C9-A831-176D2AFD49CD}"/>
              </a:ext>
            </a:extLst>
          </p:cNvPr>
          <p:cNvSpPr txBox="1"/>
          <p:nvPr/>
        </p:nvSpPr>
        <p:spPr>
          <a:xfrm>
            <a:off x="8652784" y="3094993"/>
            <a:ext cx="2780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FFFF00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https://github.com/hhcr7</a:t>
            </a:r>
            <a:endParaRPr lang="en-US" sz="1600" dirty="0">
              <a:solidFill>
                <a:srgbClr val="FFFF00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7A43DC88-35B9-492D-A629-9EB01FBEBC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4" t="13054" r="12680" b="14440"/>
          <a:stretch/>
        </p:blipFill>
        <p:spPr>
          <a:xfrm>
            <a:off x="8111607" y="3016300"/>
            <a:ext cx="523173" cy="526718"/>
          </a:xfrm>
          <a:prstGeom prst="rect">
            <a:avLst/>
          </a:prstGeom>
        </p:spPr>
      </p:pic>
      <p:pic>
        <p:nvPicPr>
          <p:cNvPr id="12" name="Picture 11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27902C64-344C-4B33-B8E8-692379D7D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07" y="3669855"/>
            <a:ext cx="523173" cy="5231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22FAE2-2BCE-4923-A372-5200D2A10B9B}"/>
              </a:ext>
            </a:extLst>
          </p:cNvPr>
          <p:cNvSpPr txBox="1"/>
          <p:nvPr/>
        </p:nvSpPr>
        <p:spPr>
          <a:xfrm>
            <a:off x="8652784" y="3639053"/>
            <a:ext cx="27805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https://www.linkedin.com/in/himanshuhegde/</a:t>
            </a:r>
            <a:endParaRPr lang="en-US" sz="1600" dirty="0">
              <a:solidFill>
                <a:srgbClr val="FFFF00"/>
              </a:solidFill>
            </a:endParaRPr>
          </a:p>
        </p:txBody>
      </p:sp>
      <p:pic>
        <p:nvPicPr>
          <p:cNvPr id="16" name="Picture 15" descr="A black and white basketball&#10;&#10;Description automatically generated with low confidence">
            <a:extLst>
              <a:ext uri="{FF2B5EF4-FFF2-40B4-BE49-F238E27FC236}">
                <a16:creationId xmlns:a16="http://schemas.microsoft.com/office/drawing/2014/main" id="{708B15C1-2CC5-495B-839F-CFA38588E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07" y="4365924"/>
            <a:ext cx="541177" cy="5411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20661E-B8F5-4013-BA91-962E14EC1FA7}"/>
              </a:ext>
            </a:extLst>
          </p:cNvPr>
          <p:cNvSpPr txBox="1"/>
          <p:nvPr/>
        </p:nvSpPr>
        <p:spPr>
          <a:xfrm>
            <a:off x="8652784" y="4476101"/>
            <a:ext cx="33650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https://hhcr7.github.io/website/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85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1A7BB9-C211-464C-A307-C0263A43FE9D}"/>
              </a:ext>
            </a:extLst>
          </p:cNvPr>
          <p:cNvSpPr txBox="1"/>
          <p:nvPr/>
        </p:nvSpPr>
        <p:spPr>
          <a:xfrm>
            <a:off x="5683509" y="4310989"/>
            <a:ext cx="6508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https://www.esi-group.com/products/virtual-reality</a:t>
            </a:r>
            <a:endParaRPr lang="en-US" dirty="0"/>
          </a:p>
        </p:txBody>
      </p:sp>
      <p:pic>
        <p:nvPicPr>
          <p:cNvPr id="7" name="Picture 6" descr="A person working on a car&#10;&#10;Description automatically generated with medium confidence">
            <a:extLst>
              <a:ext uri="{FF2B5EF4-FFF2-40B4-BE49-F238E27FC236}">
                <a16:creationId xmlns:a16="http://schemas.microsoft.com/office/drawing/2014/main" id="{3FF36055-61D4-453B-82B2-5EE9B6EAA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509" y="2255676"/>
            <a:ext cx="6508491" cy="20553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146D98-4BC2-46DC-ACD2-6CC7904378E0}"/>
              </a:ext>
            </a:extLst>
          </p:cNvPr>
          <p:cNvSpPr txBox="1"/>
          <p:nvPr/>
        </p:nvSpPr>
        <p:spPr>
          <a:xfrm>
            <a:off x="249787" y="1407226"/>
            <a:ext cx="5236613" cy="476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u="none" strike="noStrike" baseline="0" dirty="0">
                <a:solidFill>
                  <a:srgbClr val="FFFF00"/>
                </a:solidFill>
              </a:rPr>
              <a:t>• Worked on the Virtual Reality based physics simulation software ‘IC.IDO’. </a:t>
            </a:r>
          </a:p>
          <a:p>
            <a:pPr>
              <a:lnSpc>
                <a:spcPct val="150000"/>
              </a:lnSpc>
            </a:pPr>
            <a:r>
              <a:rPr lang="en-US" b="0" i="0" u="none" strike="noStrike" baseline="0" dirty="0">
                <a:solidFill>
                  <a:srgbClr val="FFFF00"/>
                </a:solidFill>
              </a:rPr>
              <a:t>• Tested IC.IDO software’s desktop interface and the HTC Vive VR environment, for bugs, workflows and usability. </a:t>
            </a:r>
          </a:p>
          <a:p>
            <a:pPr>
              <a:lnSpc>
                <a:spcPct val="150000"/>
              </a:lnSpc>
            </a:pPr>
            <a:r>
              <a:rPr lang="en-US" b="0" i="0" u="none" strike="noStrike" baseline="0" dirty="0">
                <a:solidFill>
                  <a:srgbClr val="FFFF00"/>
                </a:solidFill>
              </a:rPr>
              <a:t>• Tested usability, created workflows for customers. </a:t>
            </a:r>
          </a:p>
          <a:p>
            <a:pPr>
              <a:lnSpc>
                <a:spcPct val="150000"/>
              </a:lnSpc>
            </a:pPr>
            <a:r>
              <a:rPr lang="en-US" b="0" i="0" u="none" strike="noStrike" baseline="0" dirty="0">
                <a:solidFill>
                  <a:srgbClr val="FFFF00"/>
                </a:solidFill>
              </a:rPr>
              <a:t>• Automation of test cases for the software on the desktop. </a:t>
            </a:r>
          </a:p>
          <a:p>
            <a:pPr>
              <a:lnSpc>
                <a:spcPct val="150000"/>
              </a:lnSpc>
            </a:pPr>
            <a:r>
              <a:rPr lang="en-US" b="0" i="0" u="none" strike="noStrike" baseline="0" dirty="0">
                <a:solidFill>
                  <a:srgbClr val="FFFF00"/>
                </a:solidFill>
              </a:rPr>
              <a:t>• Certified in ‘Foundation Level Software Testing’ by ISTQB.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D166F1C-E4FA-42F8-8D76-97897E55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119" y="0"/>
            <a:ext cx="8543762" cy="73711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Quality Assurance Engineer at ESI Group</a:t>
            </a:r>
          </a:p>
        </p:txBody>
      </p:sp>
    </p:spTree>
    <p:extLst>
      <p:ext uri="{BB962C8B-B14F-4D97-AF65-F5344CB8AC3E}">
        <p14:creationId xmlns:p14="http://schemas.microsoft.com/office/powerpoint/2010/main" val="197412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EECF-CE61-4345-8D6C-3005693B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119" y="0"/>
            <a:ext cx="8543762" cy="85841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Calculator windows application using qt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7B6A4-B6DC-48C6-96B3-74CBA2AD92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42"/>
          <a:stretch/>
        </p:blipFill>
        <p:spPr>
          <a:xfrm>
            <a:off x="963599" y="822406"/>
            <a:ext cx="10264799" cy="5459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805751-2722-47EF-A3F3-A06D3AFD02FC}"/>
              </a:ext>
            </a:extLst>
          </p:cNvPr>
          <p:cNvSpPr txBox="1"/>
          <p:nvPr/>
        </p:nvSpPr>
        <p:spPr>
          <a:xfrm>
            <a:off x="2573693" y="6360556"/>
            <a:ext cx="704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GitHub repository - 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https://github.com/hhcr7/CalculatorApp</a:t>
            </a:r>
            <a:r>
              <a:rPr lang="en-US" dirty="0">
                <a:solidFill>
                  <a:srgbClr val="FFFF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4933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EECF-CE61-4345-8D6C-3005693B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119" y="0"/>
            <a:ext cx="8543762" cy="73711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‘Tower of Hanoi’ problem on c++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05751-2722-47EF-A3F3-A06D3AFD02FC}"/>
              </a:ext>
            </a:extLst>
          </p:cNvPr>
          <p:cNvSpPr txBox="1"/>
          <p:nvPr/>
        </p:nvSpPr>
        <p:spPr>
          <a:xfrm>
            <a:off x="2260340" y="6376701"/>
            <a:ext cx="767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GitHub repository -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https://github.com/hhcr7/TowerOfHanoi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7AB042-C0AB-4DFA-B80F-FF7E34CF74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90" r="89439" b="32927"/>
          <a:stretch/>
        </p:blipFill>
        <p:spPr>
          <a:xfrm>
            <a:off x="10161037" y="959565"/>
            <a:ext cx="1792838" cy="53265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60F573-F462-46D5-93F0-E9F90D3ED3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2969" b="22639"/>
          <a:stretch/>
        </p:blipFill>
        <p:spPr>
          <a:xfrm>
            <a:off x="7620000" y="949003"/>
            <a:ext cx="2076450" cy="530542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1CF36ADF-3725-4F3A-85ED-D8BA3C68CF43}"/>
              </a:ext>
            </a:extLst>
          </p:cNvPr>
          <p:cNvSpPr/>
          <p:nvPr/>
        </p:nvSpPr>
        <p:spPr>
          <a:xfrm>
            <a:off x="9791700" y="3622839"/>
            <a:ext cx="274087" cy="2000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97C4161E-918B-4196-B7CF-D048FDDE4B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735" y="817283"/>
            <a:ext cx="3739108" cy="52234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3CAE8E-5F1B-4CED-A9AA-E3796F95F8C4}"/>
              </a:ext>
            </a:extLst>
          </p:cNvPr>
          <p:cNvSpPr txBox="1"/>
          <p:nvPr/>
        </p:nvSpPr>
        <p:spPr>
          <a:xfrm>
            <a:off x="238125" y="3232383"/>
            <a:ext cx="128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Algorithm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C32F18-5FBA-49B2-9D78-9CD1F67B059F}"/>
              </a:ext>
            </a:extLst>
          </p:cNvPr>
          <p:cNvSpPr txBox="1"/>
          <p:nvPr/>
        </p:nvSpPr>
        <p:spPr>
          <a:xfrm>
            <a:off x="6167536" y="3213658"/>
            <a:ext cx="1452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Solution on console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787574-8D79-4021-9795-F43951F40AC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96000" y="737118"/>
            <a:ext cx="0" cy="563958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67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0EE2E97-69A5-40A7-A037-C0D97878B7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30000" r="25859" b="19583"/>
          <a:stretch/>
        </p:blipFill>
        <p:spPr>
          <a:xfrm>
            <a:off x="8158" y="1830353"/>
            <a:ext cx="5197151" cy="2365372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748D6D26-1B5A-40B3-9B85-91024C30D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345" y="1799569"/>
            <a:ext cx="3415976" cy="44531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DAF416-16E1-4B5D-91B9-6EA28C604A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609" t="14860" r="57130" b="12917"/>
          <a:stretch/>
        </p:blipFill>
        <p:spPr>
          <a:xfrm>
            <a:off x="8767866" y="1799569"/>
            <a:ext cx="3415976" cy="49530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72D74D-9B49-4B40-80BD-014F069847D6}"/>
              </a:ext>
            </a:extLst>
          </p:cNvPr>
          <p:cNvSpPr txBox="1"/>
          <p:nvPr/>
        </p:nvSpPr>
        <p:spPr>
          <a:xfrm>
            <a:off x="8047450" y="1381779"/>
            <a:ext cx="2617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Solution on Julia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15AB1-8B6F-4402-B175-934169052BBF}"/>
              </a:ext>
            </a:extLst>
          </p:cNvPr>
          <p:cNvSpPr txBox="1"/>
          <p:nvPr/>
        </p:nvSpPr>
        <p:spPr>
          <a:xfrm>
            <a:off x="2191520" y="1381779"/>
            <a:ext cx="83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TASKS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DA0EEE-A5AD-425B-A16B-FFF9BD9F1479}"/>
              </a:ext>
            </a:extLst>
          </p:cNvPr>
          <p:cNvCxnSpPr>
            <a:cxnSpLocks/>
          </p:cNvCxnSpPr>
          <p:nvPr/>
        </p:nvCxnSpPr>
        <p:spPr>
          <a:xfrm>
            <a:off x="5234473" y="1278294"/>
            <a:ext cx="0" cy="510384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CB4A74D-6D01-4D08-A31B-0219652D2544}"/>
              </a:ext>
            </a:extLst>
          </p:cNvPr>
          <p:cNvSpPr txBox="1"/>
          <p:nvPr/>
        </p:nvSpPr>
        <p:spPr>
          <a:xfrm>
            <a:off x="3035168" y="129858"/>
            <a:ext cx="5732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CONTROL SYSTEM SIMULATIONS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CC38E-749C-418E-9C18-7CE54F0E09CF}"/>
              </a:ext>
            </a:extLst>
          </p:cNvPr>
          <p:cNvSpPr txBox="1"/>
          <p:nvPr/>
        </p:nvSpPr>
        <p:spPr>
          <a:xfrm>
            <a:off x="8157" y="6481847"/>
            <a:ext cx="638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GitHub: </a:t>
            </a:r>
            <a:r>
              <a:rPr lang="en-US" dirty="0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https://github.com/hhcr7/ControlSystemDesign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88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495DE27-6AA0-4D66-AC5D-628EC71A98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6" t="21529" r="34220" b="12361"/>
          <a:stretch/>
        </p:blipFill>
        <p:spPr>
          <a:xfrm>
            <a:off x="237327" y="416674"/>
            <a:ext cx="4497355" cy="3665652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D22DD3-2075-4C6B-826D-97A371418E8F}"/>
              </a:ext>
            </a:extLst>
          </p:cNvPr>
          <p:cNvSpPr txBox="1"/>
          <p:nvPr/>
        </p:nvSpPr>
        <p:spPr>
          <a:xfrm>
            <a:off x="1258659" y="4124766"/>
            <a:ext cx="273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Solution to 3.4: on Julia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E22DA-BEE2-4C8F-AA17-D261CF65FD6D}"/>
              </a:ext>
            </a:extLst>
          </p:cNvPr>
          <p:cNvSpPr txBox="1"/>
          <p:nvPr/>
        </p:nvSpPr>
        <p:spPr>
          <a:xfrm>
            <a:off x="2070791" y="0"/>
            <a:ext cx="83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TASKS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1ACBB9-D00D-4111-95AE-C564AD9FEC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42" t="20149" r="45752" b="45034"/>
          <a:stretch/>
        </p:blipFill>
        <p:spPr>
          <a:xfrm>
            <a:off x="164796" y="4494098"/>
            <a:ext cx="4925557" cy="2375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743BD-F07B-42CE-B74D-418B28C214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775" t="38231" r="30281" b="50000"/>
          <a:stretch/>
        </p:blipFill>
        <p:spPr>
          <a:xfrm>
            <a:off x="5090353" y="14646"/>
            <a:ext cx="7101647" cy="840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3F03C1-877E-4968-BE4C-37A5EEA73A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852" t="15919" r="25306" b="10885"/>
          <a:stretch/>
        </p:blipFill>
        <p:spPr>
          <a:xfrm>
            <a:off x="5090353" y="854991"/>
            <a:ext cx="7101647" cy="48058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4782F8-DAFC-4C29-A5EF-5E15A71FA5BA}"/>
              </a:ext>
            </a:extLst>
          </p:cNvPr>
          <p:cNvSpPr txBox="1"/>
          <p:nvPr/>
        </p:nvSpPr>
        <p:spPr>
          <a:xfrm>
            <a:off x="5449521" y="6059124"/>
            <a:ext cx="638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GitHub: </a:t>
            </a:r>
            <a:r>
              <a:rPr lang="en-US" dirty="0">
                <a:solidFill>
                  <a:srgbClr val="FFFF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https://github.com/hhcr7/ControlSystemDesign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489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1199</TotalTime>
  <Words>243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Mesh</vt:lpstr>
      <vt:lpstr>Software</vt:lpstr>
      <vt:lpstr>Quality Assurance Engineer at ESI Group</vt:lpstr>
      <vt:lpstr>Calculator windows application using qt</vt:lpstr>
      <vt:lpstr>‘Tower of Hanoi’ problem on c++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Himanshu Hegde</dc:creator>
  <cp:lastModifiedBy>Hegde, Himanshu</cp:lastModifiedBy>
  <cp:revision>149</cp:revision>
  <dcterms:created xsi:type="dcterms:W3CDTF">2020-12-27T18:18:14Z</dcterms:created>
  <dcterms:modified xsi:type="dcterms:W3CDTF">2022-01-30T22:59:08Z</dcterms:modified>
</cp:coreProperties>
</file>